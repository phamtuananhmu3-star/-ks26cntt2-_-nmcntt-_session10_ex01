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45" autoAdjust="0"/>
  </p:normalViewPr>
  <p:slideViewPr>
    <p:cSldViewPr snapToGrid="0">
      <p:cViewPr varScale="1">
        <p:scale>
          <a:sx n="92" d="100"/>
          <a:sy n="92" d="100"/>
        </p:scale>
        <p:origin x="295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7D6ECB-A036-528E-9C0B-45647EA27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2479D16C-CCE2-0321-9674-E19E57705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0A31F5B-B7D2-A9E2-E4FF-F8E9DCEB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D4EEADB-2485-9140-9553-DAD5CFE6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AB30851-CEC1-A713-3CEE-BA66A321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4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7AF514-3258-02B5-5C03-F97CC53D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019DF74-2661-EB09-DF63-A37EA747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3CF5D6A-CB7D-259B-17D1-9013BE84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4145F3C-4FA4-E713-B8DC-D0EC61AF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F354551-19C2-EEBA-64C2-A336E809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2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FF66A4-789A-2044-0457-3EDD96F5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D2302FE-E420-1E9B-311A-5A6F280FA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2A70486-6E15-C904-0130-80080299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B13D96B-1428-6FD4-4695-42701C74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F655161-4A76-1A3C-A7D6-22BCDBC1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6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2FD43CA-6DA0-EA53-FBA2-4E8AE009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AF5482B-9530-C30F-D774-9AE064B66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D9AD6A7-8193-EB2E-C203-29AADF9F9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A8399CF-51C7-B676-B09F-E402B2018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927257C-FBD0-FE67-9BE8-AEED622F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BB4EE52-0E68-B04D-F8BB-14BC0381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F0B93CD-2B52-2B8A-E3A0-DD20EFB9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F1D4351-8F9E-E22F-3FD7-9AC18936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E7E185C-7857-7310-690B-31AE959E0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1CC1C40-53A9-653E-4885-76916D83A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C424C7C-A852-A2F0-7C08-A380140BF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BFABA60-1892-40C7-8266-063E2E0DF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15ECDD1-F66C-9DF1-D8BB-D9DA3DEA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31CB7050-D325-2390-74C9-C3E76814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2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C66509E-CE67-026F-3AFB-119348360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A50796D-67DA-2157-E544-07543FEC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2EDA3F3-F8BE-FCED-F1DA-719C38E0F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01F238F-B37B-C1C2-CA76-A388A9C2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7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FD614DB-5D7D-A463-4D19-4A907D5C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F308325D-D458-9206-1851-93813B0D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5B6224-32B7-C231-2BFB-FF939631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1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2A84A19-1BA2-5654-51E1-EB29D80E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1966283-49DB-7F87-2030-BCBD8A3D3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12568CD0-21C6-EB74-1EC9-7EB8AA8EE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10CEF90-1C75-4C9F-EF43-AFD80ECE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01675D1-5C94-DF7F-C7BE-A0468DB9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79FB5D3-F4E3-23CE-A182-4D2C4D10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0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4108A4F-3F7A-3830-BFCE-DB261353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BB7DFC73-A577-B1BA-F0CB-F3FB73B75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5F70B76-1997-87F4-A5CE-61A8BB230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535A5F33-7E99-EF98-6EF4-2AC1A807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56AF650-50EF-553C-3821-2263A7F6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AB9558D-F4BC-8308-0601-5A37B833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7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F41EE4-5536-1A62-235C-42FF8975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65952A0-3ED9-5148-7984-FAB70683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3BA574-A757-4E54-0DEA-C0E6D552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A67E4E8-6253-FEB5-91BB-A08F992BF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D765E44-11A1-0DB8-52B2-5567AEB5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0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B035FC3C-43E0-ABEF-2742-DAFC7181C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B3E366B-28DC-2C16-D440-3831E624E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2EE326B-2986-51C6-DC26-B814897A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182A303-5CFC-354E-4F82-7CFAB4A3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19AC022-9D34-07A1-E597-7EE1BE899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70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1DDA31C6-1637-2853-8D0F-21B93657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4B206A7-4626-4D67-5955-24230482E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6EB24C5-DF19-0156-C2E8-131051DF6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E759E-90DE-44C5-BE3C-862519F5479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C8827D2-4A2B-4213-02E6-67E8FB473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931F72E-04BD-F3BE-CCC1-61015D7AE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DB85D-15FC-4A95-855E-9124F3E3B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6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577AAA2C-1F14-21CA-8207-EC7F0A5DA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2" y="0"/>
            <a:ext cx="6278878" cy="6858000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1FC8080E-7CE7-7C3A-9A74-569C43B69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69" y="431115"/>
            <a:ext cx="807859" cy="663168"/>
          </a:xfrm>
          <a:prstGeom prst="rect">
            <a:avLst/>
          </a:prstGeom>
        </p:spPr>
      </p:pic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838A03BC-FEC8-6D4D-E546-801A897D607E}"/>
              </a:ext>
            </a:extLst>
          </p:cNvPr>
          <p:cNvSpPr txBox="1"/>
          <p:nvPr/>
        </p:nvSpPr>
        <p:spPr>
          <a:xfrm>
            <a:off x="974520" y="578034"/>
            <a:ext cx="1993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err="1">
                <a:solidFill>
                  <a:schemeClr val="tx2"/>
                </a:solidFill>
                <a:cs typeface="Lucida Sans Unicode" panose="020B0602030504020204" pitchFamily="34" charset="0"/>
              </a:rPr>
              <a:t>Pay</a:t>
            </a:r>
            <a:r>
              <a:rPr lang="vi-VN" sz="2800" b="1" dirty="0" err="1">
                <a:solidFill>
                  <a:srgbClr val="002060"/>
                </a:solidFill>
                <a:cs typeface="Lucida Sans Unicode" panose="020B0602030504020204" pitchFamily="34" charset="0"/>
              </a:rPr>
              <a:t>KX</a:t>
            </a:r>
            <a:endParaRPr lang="en-US" sz="2800" b="1" dirty="0">
              <a:solidFill>
                <a:srgbClr val="00206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15DAD6D0-4513-9E46-E630-AA1876BCF9E9}"/>
              </a:ext>
            </a:extLst>
          </p:cNvPr>
          <p:cNvSpPr txBox="1"/>
          <p:nvPr/>
        </p:nvSpPr>
        <p:spPr>
          <a:xfrm>
            <a:off x="273570" y="1165485"/>
            <a:ext cx="2941820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Ví điện tử cho sinh viên </a:t>
            </a:r>
            <a:endParaRPr lang="en-US" b="1" dirty="0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51286CBC-D3B0-80AD-5583-4DDE8CD8F0BB}"/>
              </a:ext>
            </a:extLst>
          </p:cNvPr>
          <p:cNvSpPr txBox="1"/>
          <p:nvPr/>
        </p:nvSpPr>
        <p:spPr>
          <a:xfrm>
            <a:off x="971420" y="2442998"/>
            <a:ext cx="5370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 dirty="0">
                <a:solidFill>
                  <a:srgbClr val="002060"/>
                </a:solidFill>
                <a:latin typeface="Bahnschrift" panose="020B0502040204020203" pitchFamily="34" charset="0"/>
              </a:rPr>
              <a:t>  BÁO CÁO LỖ LÃI </a:t>
            </a:r>
            <a:endParaRPr lang="en-US" sz="4800" b="1" dirty="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051D57E3-D488-BFE3-89C5-0DE11D5D21AE}"/>
              </a:ext>
            </a:extLst>
          </p:cNvPr>
          <p:cNvSpPr txBox="1"/>
          <p:nvPr/>
        </p:nvSpPr>
        <p:spPr>
          <a:xfrm>
            <a:off x="1322217" y="3229663"/>
            <a:ext cx="416458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chemeClr val="accent1"/>
                </a:solidFill>
              </a:rPr>
              <a:t>THÁNG 05/2024</a:t>
            </a:r>
          </a:p>
          <a:p>
            <a:r>
              <a:rPr lang="vi-VN" sz="2800" dirty="0">
                <a:solidFill>
                  <a:schemeClr val="accent1"/>
                </a:solidFill>
              </a:rPr>
              <a:t>____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59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DC501-CCE9-B705-E5FE-EDCFF01C4455}"/>
              </a:ext>
            </a:extLst>
          </p:cNvPr>
          <p:cNvSpPr txBox="1"/>
          <p:nvPr/>
        </p:nvSpPr>
        <p:spPr>
          <a:xfrm>
            <a:off x="595147" y="863163"/>
            <a:ext cx="4028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TỔNG QUAN KẾT QUẢ </a:t>
            </a:r>
          </a:p>
          <a:p>
            <a:r>
              <a:rPr lang="vi-VN" dirty="0"/>
              <a:t> </a:t>
            </a:r>
            <a:endParaRPr lang="vi-VN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D996215F-89D4-477D-DF95-DA589850D62E}"/>
              </a:ext>
            </a:extLst>
          </p:cNvPr>
          <p:cNvSpPr/>
          <p:nvPr/>
        </p:nvSpPr>
        <p:spPr>
          <a:xfrm>
            <a:off x="504495" y="2435773"/>
            <a:ext cx="1742091" cy="34250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ình chữ nhật: Góc Tròn 6">
            <a:extLst>
              <a:ext uri="{FF2B5EF4-FFF2-40B4-BE49-F238E27FC236}">
                <a16:creationId xmlns:a16="http://schemas.microsoft.com/office/drawing/2014/main" id="{715B70A9-6DFF-CCEA-0E9B-71C2858A3429}"/>
              </a:ext>
            </a:extLst>
          </p:cNvPr>
          <p:cNvSpPr/>
          <p:nvPr/>
        </p:nvSpPr>
        <p:spPr>
          <a:xfrm>
            <a:off x="3254564" y="2435773"/>
            <a:ext cx="1742091" cy="34250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7549BBF5-9B30-91A1-A7D0-EC27F0C00EB0}"/>
              </a:ext>
            </a:extLst>
          </p:cNvPr>
          <p:cNvSpPr/>
          <p:nvPr/>
        </p:nvSpPr>
        <p:spPr>
          <a:xfrm>
            <a:off x="6434527" y="2435773"/>
            <a:ext cx="1742091" cy="34250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2F4ECF7C-DD0E-5F05-885E-FF17E2D7F41E}"/>
              </a:ext>
            </a:extLst>
          </p:cNvPr>
          <p:cNvSpPr/>
          <p:nvPr/>
        </p:nvSpPr>
        <p:spPr>
          <a:xfrm>
            <a:off x="9497330" y="2455523"/>
            <a:ext cx="1742091" cy="3425058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5F2F65ED-52FC-CD47-DFA1-7160A2AFE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955" y="2762192"/>
            <a:ext cx="579170" cy="666808"/>
          </a:xfrm>
          <a:prstGeom prst="rect">
            <a:avLst/>
          </a:prstGeom>
        </p:spPr>
      </p:pic>
      <p:pic>
        <p:nvPicPr>
          <p:cNvPr id="29" name="Đồ họa 28" descr="Briefcase with solid fill">
            <a:extLst>
              <a:ext uri="{FF2B5EF4-FFF2-40B4-BE49-F238E27FC236}">
                <a16:creationId xmlns:a16="http://schemas.microsoft.com/office/drawing/2014/main" id="{D75125AA-80AE-DAC1-C408-63B768232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 flipV="1">
            <a:off x="3828938" y="2779596"/>
            <a:ext cx="593342" cy="593342"/>
          </a:xfrm>
          <a:prstGeom prst="rect">
            <a:avLst/>
          </a:prstGeom>
        </p:spPr>
      </p:pic>
      <p:pic>
        <p:nvPicPr>
          <p:cNvPr id="31" name="Đồ họa 30" descr="Bar graph with upward trend with solid fill">
            <a:extLst>
              <a:ext uri="{FF2B5EF4-FFF2-40B4-BE49-F238E27FC236}">
                <a16:creationId xmlns:a16="http://schemas.microsoft.com/office/drawing/2014/main" id="{34B97692-F936-1F64-C872-2307EFE5F3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5716" y="2805414"/>
            <a:ext cx="623586" cy="623586"/>
          </a:xfrm>
          <a:prstGeom prst="rect">
            <a:avLst/>
          </a:prstGeom>
        </p:spPr>
      </p:pic>
      <p:pic>
        <p:nvPicPr>
          <p:cNvPr id="33" name="Hình ảnh 32">
            <a:extLst>
              <a:ext uri="{FF2B5EF4-FFF2-40B4-BE49-F238E27FC236}">
                <a16:creationId xmlns:a16="http://schemas.microsoft.com/office/drawing/2014/main" id="{84E2C21C-A89D-6000-ED56-848F15CE0F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886" y="2723535"/>
            <a:ext cx="723371" cy="705465"/>
          </a:xfrm>
          <a:prstGeom prst="rect">
            <a:avLst/>
          </a:prstGeom>
        </p:spPr>
      </p:pic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568366FB-2DFB-C509-0BE3-026EA5CFA400}"/>
              </a:ext>
            </a:extLst>
          </p:cNvPr>
          <p:cNvSpPr txBox="1"/>
          <p:nvPr/>
        </p:nvSpPr>
        <p:spPr>
          <a:xfrm>
            <a:off x="769775" y="3429000"/>
            <a:ext cx="1203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200" b="1" dirty="0"/>
              <a:t>DOANH THU </a:t>
            </a:r>
            <a:r>
              <a:rPr lang="vi-VN" sz="1200" b="1" dirty="0" err="1"/>
              <a:t>THU</a:t>
            </a:r>
            <a:r>
              <a:rPr lang="en-US" sz="1200" b="1" dirty="0"/>
              <a:t>ẦN</a:t>
            </a: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D8DE7963-939C-6ADF-769C-DB4EDADA697A}"/>
              </a:ext>
            </a:extLst>
          </p:cNvPr>
          <p:cNvSpPr txBox="1"/>
          <p:nvPr/>
        </p:nvSpPr>
        <p:spPr>
          <a:xfrm>
            <a:off x="3496432" y="3429000"/>
            <a:ext cx="2029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dirty="0">
                <a:solidFill>
                  <a:schemeClr val="accent6"/>
                </a:solidFill>
              </a:rPr>
              <a:t>TỔNG CHI PHÍ </a:t>
            </a:r>
            <a:endParaRPr lang="en-US" sz="1200" b="1" dirty="0">
              <a:solidFill>
                <a:schemeClr val="accent6"/>
              </a:solidFill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5808CA14-2A3D-D5F7-B1F7-141988A51515}"/>
              </a:ext>
            </a:extLst>
          </p:cNvPr>
          <p:cNvSpPr txBox="1"/>
          <p:nvPr/>
        </p:nvSpPr>
        <p:spPr>
          <a:xfrm>
            <a:off x="397715" y="3794359"/>
            <a:ext cx="1947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12,45</a:t>
            </a:r>
          </a:p>
          <a:p>
            <a:pPr algn="ctr"/>
            <a:r>
              <a:rPr lang="vi-V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TỶ VND </a:t>
            </a:r>
            <a:endParaRPr lang="en-U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8" name="Hình ảnh 37">
            <a:extLst>
              <a:ext uri="{FF2B5EF4-FFF2-40B4-BE49-F238E27FC236}">
                <a16:creationId xmlns:a16="http://schemas.microsoft.com/office/drawing/2014/main" id="{B6C49777-95C4-EDCB-062B-282DC6BACA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89" y="4787586"/>
            <a:ext cx="1375000" cy="801086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FDACB36-0408-4ABF-13FA-B1B31EB556F5}"/>
              </a:ext>
            </a:extLst>
          </p:cNvPr>
          <p:cNvSpPr txBox="1"/>
          <p:nvPr/>
        </p:nvSpPr>
        <p:spPr>
          <a:xfrm>
            <a:off x="3502191" y="3705999"/>
            <a:ext cx="1246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7,28</a:t>
            </a:r>
          </a:p>
          <a:p>
            <a:pPr algn="ctr"/>
            <a:r>
              <a:rPr lang="en-US" b="1" dirty="0">
                <a:solidFill>
                  <a:schemeClr val="accent6"/>
                </a:solidFill>
              </a:rPr>
              <a:t> TỶ VND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48F6D4E9-A898-1F20-A74C-E43D803786A0}"/>
              </a:ext>
            </a:extLst>
          </p:cNvPr>
          <p:cNvSpPr txBox="1"/>
          <p:nvPr/>
        </p:nvSpPr>
        <p:spPr>
          <a:xfrm>
            <a:off x="3229112" y="4863110"/>
            <a:ext cx="1955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en-US" b="1" dirty="0">
                <a:solidFill>
                  <a:schemeClr val="accent6"/>
                </a:solidFill>
              </a:rPr>
              <a:t>+12,1%</a:t>
            </a:r>
          </a:p>
          <a:p>
            <a:r>
              <a:rPr lang="en-US" b="1" dirty="0">
                <a:solidFill>
                  <a:schemeClr val="accent6"/>
                </a:solidFill>
              </a:rPr>
              <a:t>SO VỚI T4/2024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13BED118-D278-D92A-CDD9-C6CEFBC4C3B3}"/>
              </a:ext>
            </a:extLst>
          </p:cNvPr>
          <p:cNvSpPr txBox="1"/>
          <p:nvPr/>
        </p:nvSpPr>
        <p:spPr>
          <a:xfrm>
            <a:off x="6848371" y="379435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5,17 TỶ VND 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49DF48EE-3DD9-8D7B-11FC-E81CC4F54644}"/>
              </a:ext>
            </a:extLst>
          </p:cNvPr>
          <p:cNvSpPr txBox="1"/>
          <p:nvPr/>
        </p:nvSpPr>
        <p:spPr>
          <a:xfrm>
            <a:off x="6420661" y="3382833"/>
            <a:ext cx="1879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LỢI NHUẬN GỘP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70CE95E4-E5A7-B68E-655B-4E4915922D79}"/>
              </a:ext>
            </a:extLst>
          </p:cNvPr>
          <p:cNvSpPr txBox="1"/>
          <p:nvPr/>
        </p:nvSpPr>
        <p:spPr>
          <a:xfrm>
            <a:off x="6498474" y="4912432"/>
            <a:ext cx="2124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+27,4%</a:t>
            </a:r>
            <a:br>
              <a:rPr lang="en-US" b="1" dirty="0">
                <a:solidFill>
                  <a:schemeClr val="accent5"/>
                </a:solidFill>
              </a:rPr>
            </a:br>
            <a:r>
              <a:rPr lang="en-US" b="1" dirty="0">
                <a:solidFill>
                  <a:schemeClr val="accent5"/>
                </a:solidFill>
              </a:rPr>
              <a:t>SO VỚI T4/2024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0C7A175-9E3E-29C5-B4B8-BE2819BCF696}"/>
              </a:ext>
            </a:extLst>
          </p:cNvPr>
          <p:cNvSpPr txBox="1"/>
          <p:nvPr/>
        </p:nvSpPr>
        <p:spPr>
          <a:xfrm>
            <a:off x="9477931" y="3475166"/>
            <a:ext cx="194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BÁO CÁO LỖ LÃI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560B5DD-1BBF-4282-7262-A260B253B1EF}"/>
              </a:ext>
            </a:extLst>
          </p:cNvPr>
          <p:cNvSpPr txBox="1"/>
          <p:nvPr/>
        </p:nvSpPr>
        <p:spPr>
          <a:xfrm>
            <a:off x="9959223" y="3825136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2,89 TỶ VND </a:t>
            </a: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7BBB43BE-DDD6-18AD-B6B1-B8280BA936D1}"/>
              </a:ext>
            </a:extLst>
          </p:cNvPr>
          <p:cNvSpPr txBox="1"/>
          <p:nvPr/>
        </p:nvSpPr>
        <p:spPr>
          <a:xfrm>
            <a:off x="9426464" y="4902058"/>
            <a:ext cx="194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    +31,2%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SO VỚI T4/2024</a:t>
            </a:r>
          </a:p>
        </p:txBody>
      </p:sp>
    </p:spTree>
    <p:extLst>
      <p:ext uri="{BB962C8B-B14F-4D97-AF65-F5344CB8AC3E}">
        <p14:creationId xmlns:p14="http://schemas.microsoft.com/office/powerpoint/2010/main" val="166585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E1A35C28-0246-D35D-6147-178BE4B65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1" y="74815"/>
            <a:ext cx="12186786" cy="702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24630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68</Words>
  <Application>Microsoft Office PowerPoint</Application>
  <PresentationFormat>Màn hình rộng</PresentationFormat>
  <Paragraphs>22</Paragraphs>
  <Slides>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Bahnschrift</vt:lpstr>
      <vt:lpstr>Lucida Sans Unicode</vt:lpstr>
      <vt:lpstr>Times New Roman</vt:lpstr>
      <vt:lpstr>Chủ đề Office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2026-10-26T04:02:48Z</dcterms:created>
  <dcterms:modified xsi:type="dcterms:W3CDTF">2026-10-26T14:23:24Z</dcterms:modified>
</cp:coreProperties>
</file>